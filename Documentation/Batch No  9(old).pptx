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slideLayouts/slideLayout8.xml" ContentType="application/vnd.openxmlformats-officedocument.presentationml.slideLayout+xml"/>
  <Override PartName="/ppt/theme/theme8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9.xml" ContentType="application/vnd.openxmlformats-officedocument.theme+xml"/>
  <Override PartName="/ppt/slideLayouts/slideLayout16.xml" ContentType="application/vnd.openxmlformats-officedocument.presentationml.slideLayout+xml"/>
  <Override PartName="/ppt/theme/theme10.xml" ContentType="application/vnd.openxmlformats-officedocument.theme+xml"/>
  <Override PartName="/ppt/slideLayouts/slideLayout17.xml" ContentType="application/vnd.openxmlformats-officedocument.presentationml.slideLayout+xml"/>
  <Override PartName="/ppt/theme/theme1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  <p:sldMasterId id="2147483654" r:id="rId4"/>
    <p:sldMasterId id="2147483656" r:id="rId5"/>
    <p:sldMasterId id="2147483658" r:id="rId6"/>
    <p:sldMasterId id="2147483660" r:id="rId7"/>
    <p:sldMasterId id="2147483662" r:id="rId8"/>
    <p:sldMasterId id="2147483664" r:id="rId9"/>
    <p:sldMasterId id="2147483672" r:id="rId10"/>
    <p:sldMasterId id="2147483674" r:id="rId11"/>
  </p:sldMasterIdLst>
  <p:sldIdLst>
    <p:sldId id="256" r:id="rId12"/>
    <p:sldId id="257" r:id="rId13"/>
    <p:sldId id="258" r:id="rId14"/>
    <p:sldId id="259" r:id="rId15"/>
    <p:sldId id="260" r:id="rId16"/>
    <p:sldId id="261" r:id="rId17"/>
    <p:sldId id="267" r:id="rId18"/>
    <p:sldId id="262" r:id="rId19"/>
    <p:sldId id="264" r:id="rId20"/>
    <p:sldId id="265" r:id="rId21"/>
    <p:sldId id="266" r:id="rId22"/>
  </p:sldIdLst>
  <p:sldSz cx="12192000" cy="685800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4" d="100"/>
          <a:sy n="84" d="100"/>
        </p:scale>
        <p:origin x="629" y="4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2.xml"/><Relationship Id="rId18" Type="http://schemas.openxmlformats.org/officeDocument/2006/relationships/slide" Target="slides/slide7.xml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0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1.xml"/><Relationship Id="rId17" Type="http://schemas.openxmlformats.org/officeDocument/2006/relationships/slide" Target="slides/slide6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5.xml"/><Relationship Id="rId20" Type="http://schemas.openxmlformats.org/officeDocument/2006/relationships/slide" Target="slides/slide9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4.xml"/><Relationship Id="rId23" Type="http://schemas.openxmlformats.org/officeDocument/2006/relationships/presProps" Target="presProps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8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3.xml"/><Relationship Id="rId22" Type="http://schemas.openxmlformats.org/officeDocument/2006/relationships/slide" Target="slides/slide1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IN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2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B210B8E2-4F7A-47AE-9AE6-1CFF71598C18}" type="slidenum">
              <a:rPr/>
              <a:pPr/>
              <a:t>‹#›</a:t>
            </a:fld>
            <a:endParaRPr/>
          </a:p>
        </p:txBody>
      </p:sp>
      <p:sp>
        <p:nvSpPr>
          <p:cNvPr id="3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F9EA15FA-9479-463C-AB6D-E364FFF264D3}" type="slidenum">
              <a:rPr/>
              <a:pPr/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5396304D-E0AD-4F01-AF82-B0026C54A898}" type="slidenum">
              <a:rPr/>
              <a:pPr/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u="none" strike="noStrik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B508E66-1D69-4ED3-BFEA-C16C948D27AA}" type="slidenum">
              <a:rPr/>
              <a:pPr/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lstStyle/>
          <a:p>
            <a:fld id="{7A367ED5-BA53-4AC6-8172-C77AF61A26E5}" type="slidenum">
              <a:rPr/>
              <a:pPr/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u="none" strike="noStrik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u="none" strike="noStrik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lstStyle/>
          <a:p>
            <a:fld id="{B20DBE3D-24EC-4D8E-B569-DDE781F6B341}" type="slidenum">
              <a:rPr/>
              <a:pPr/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lstStyle/>
          <a:p>
            <a:fld id="{C247942D-CC6D-49C5-B899-84D702B27629}" type="slidenum">
              <a:rPr/>
              <a:pPr/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lstStyle/>
          <a:p>
            <a:fld id="{75EBBD44-7399-4E7B-B463-C5C536CE0DA7}" type="slidenum">
              <a:rPr/>
              <a:pPr/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CCECFC8C-A5AB-44D8-9D13-3846FD694D62}" type="slidenum">
              <a:rPr/>
              <a:pPr/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IN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6AFD6B37-EFA3-42EC-98A1-7509F4C4729B}" type="slidenum">
              <a:rPr/>
              <a:pPr/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6AC08C59-9EA3-4C22-8A88-43FCC99CACF9}" type="slidenum">
              <a:rPr/>
              <a:pPr/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1AAD2A36-C066-4393-9CDF-0AC557A7A34F}" type="slidenum">
              <a:rPr/>
              <a:pPr/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u="none" strike="noStrik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CF31A324-501C-434C-A830-7878DF3187AE}" type="slidenum">
              <a:rPr/>
              <a:pPr/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2F681BC0-2C78-4158-A25E-0CA98A4B78A4}" type="slidenum">
              <a:rPr/>
              <a:pPr/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u="none" strike="noStrik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u="none" strike="noStrik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08975000-804A-441D-983F-245B3C6D6BC1}" type="slidenum">
              <a:rPr/>
              <a:pPr/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lstStyle/>
          <a:p>
            <a:fld id="{435F4727-EFD0-417E-9ED5-B9F40810ADA6}" type="slidenum">
              <a:rPr/>
              <a:pPr/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lstStyle/>
          <a:p>
            <a:fld id="{58ADFE20-30D4-4AF4-AF66-D628E7215BEC}" type="slidenum">
              <a:rPr/>
              <a:pPr/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theme" Target="../theme/theme9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6.xml"/></Relationships>
</file>

<file path=ppt/slideMasters/_rels/slideMaster1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6000" b="0" u="none" strike="noStrike">
                <a:solidFill>
                  <a:schemeClr val="dk1"/>
                </a:solidFill>
                <a:uFillTx/>
                <a:latin typeface="Aptos Display"/>
              </a:rPr>
              <a:t>Click to edit Master title style</a:t>
            </a:r>
            <a:endParaRPr lang="en-US" sz="6000" b="0" u="none" strike="noStrik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IN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IN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IN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EE3FD28-C46F-485C-83AA-E1881408C2E6}" type="slidenum">
              <a:rPr lang="en-IN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pPr indent="0" algn="r" defTabSz="914400">
                <a:lnSpc>
                  <a:spcPct val="100000"/>
                </a:lnSpc>
                <a:buNone/>
              </a:pPr>
              <a:t>‹#›</a:t>
            </a:fld>
            <a:endParaRPr lang="en-IN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uFillTx/>
                <a:latin typeface="Aptos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Aptos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uFillTx/>
                <a:latin typeface="Aptos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uFillTx/>
                <a:latin typeface="Aptos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Aptos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Aptos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Aptos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uFillTx/>
                <a:latin typeface="Aptos"/>
              </a:rPr>
              <a:t>Click to edit Master text styles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Aptos"/>
              </a:rPr>
              <a:t>Second level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Aptos"/>
              </a:rPr>
              <a:t>Third level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uFillTx/>
                <a:latin typeface="Aptos"/>
              </a:rPr>
              <a:t>Fourth level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uFillTx/>
                <a:latin typeface="Aptos"/>
              </a:rPr>
              <a:t>Fifth level</a:t>
            </a: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IN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IN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 </a:t>
            </a:r>
            <a:endParaRPr lang="en-IN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uFillTx/>
                <a:latin typeface="Times New Roman"/>
              </a:rPr>
              <a:t> </a:t>
            </a: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IN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4806B03-5474-4F10-B343-3780549D79A9}" type="slidenum">
              <a:rPr lang="en-IN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pPr indent="0" algn="r" defTabSz="914400">
                <a:lnSpc>
                  <a:spcPct val="100000"/>
                </a:lnSpc>
                <a:buNone/>
              </a:pPr>
              <a:t>‹#›</a:t>
            </a:fld>
            <a:endParaRPr lang="en-IN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uFillTx/>
                <a:latin typeface="Aptos"/>
              </a:rPr>
              <a:t>Click to edit Master text styles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Aptos"/>
              </a:rPr>
              <a:t>Second level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Aptos"/>
              </a:rPr>
              <a:t>Third level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uFillTx/>
                <a:latin typeface="Aptos"/>
              </a:rPr>
              <a:t>Fourth level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uFillTx/>
                <a:latin typeface="Aptos"/>
              </a:rPr>
              <a:t>Fifth level</a:t>
            </a: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IN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IN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 </a:t>
            </a:r>
            <a:endParaRPr lang="en-IN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uFillTx/>
                <a:latin typeface="Times New Roman"/>
              </a:rPr>
              <a:t> </a:t>
            </a: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IN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80E8FA2-4014-46A1-9FF2-68962E692B35}" type="slidenum">
              <a:rPr lang="en-IN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pPr indent="0" algn="r" defTabSz="914400">
                <a:lnSpc>
                  <a:spcPct val="100000"/>
                </a:lnSpc>
                <a:buNone/>
              </a:pPr>
              <a:t>‹#›</a:t>
            </a:fld>
            <a:endParaRPr lang="en-IN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uFillTx/>
                <a:latin typeface="Aptos"/>
              </a:rPr>
              <a:t>Click to edit Master text styles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Aptos"/>
              </a:rPr>
              <a:t>Second level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Aptos"/>
              </a:rPr>
              <a:t>Third level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uFillTx/>
                <a:latin typeface="Aptos"/>
              </a:rPr>
              <a:t>Fourth level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uFillTx/>
                <a:latin typeface="Aptos"/>
              </a:rPr>
              <a:t>Fifth level</a:t>
            </a: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IN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IN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 </a:t>
            </a:r>
            <a:endParaRPr lang="en-IN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uFillTx/>
                <a:latin typeface="Times New Roman"/>
              </a:rPr>
              <a:t> </a:t>
            </a: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IN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C395783-523C-4EC5-9182-D46715F07F29}" type="slidenum">
              <a:rPr lang="en-IN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pPr indent="0" algn="r" defTabSz="914400">
                <a:lnSpc>
                  <a:spcPct val="100000"/>
                </a:lnSpc>
                <a:buNone/>
              </a:pPr>
              <a:t>‹#›</a:t>
            </a:fld>
            <a:endParaRPr lang="en-IN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6000" b="0" u="none" strike="noStrike">
                <a:solidFill>
                  <a:schemeClr val="dk1"/>
                </a:solidFill>
                <a:uFillTx/>
                <a:latin typeface="Aptos Display"/>
              </a:rPr>
              <a:t>Click to edit Master title style</a:t>
            </a:r>
            <a:endParaRPr lang="en-US" sz="6000" b="0" u="none" strike="noStrik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IN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IN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 </a:t>
            </a:r>
            <a:endParaRPr lang="en-IN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uFillTx/>
                <a:latin typeface="Times New Roman"/>
              </a:rPr>
              <a:t> </a:t>
            </a:r>
          </a:p>
        </p:txBody>
      </p:sp>
      <p:sp>
        <p:nvSpPr>
          <p:cNvPr id="28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IN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6A11F26-F02E-4796-9685-03712E92582A}" type="slidenum">
              <a:rPr lang="en-IN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pPr indent="0" algn="r" defTabSz="914400">
                <a:lnSpc>
                  <a:spcPct val="100000"/>
                </a:lnSpc>
                <a:buNone/>
              </a:pPr>
              <a:t>‹#›</a:t>
            </a:fld>
            <a:endParaRPr lang="en-IN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uFillTx/>
                <a:latin typeface="Aptos"/>
              </a:rPr>
              <a:t>Click to edit Master text styles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Aptos"/>
              </a:rPr>
              <a:t>Second level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Aptos"/>
              </a:rPr>
              <a:t>Third level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uFillTx/>
                <a:latin typeface="Aptos"/>
              </a:rPr>
              <a:t>Fourth level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uFillTx/>
                <a:latin typeface="Aptos"/>
              </a:rPr>
              <a:t>Fifth level</a:t>
            </a: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uFillTx/>
                <a:latin typeface="Aptos"/>
              </a:rPr>
              <a:t>Click to edit Master text styles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Aptos"/>
              </a:rPr>
              <a:t>Second level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Aptos"/>
              </a:rPr>
              <a:t>Third level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uFillTx/>
                <a:latin typeface="Aptos"/>
              </a:rPr>
              <a:t>Fourth level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uFillTx/>
                <a:latin typeface="Aptos"/>
              </a:rPr>
              <a:t>Fifth level</a:t>
            </a:r>
          </a:p>
        </p:txBody>
      </p:sp>
      <p:sp>
        <p:nvSpPr>
          <p:cNvPr id="32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IN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IN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 </a:t>
            </a:r>
            <a:endParaRPr lang="en-IN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uFillTx/>
                <a:latin typeface="Times New Roman"/>
              </a:rPr>
              <a:t> </a:t>
            </a:r>
          </a:p>
        </p:txBody>
      </p:sp>
      <p:sp>
        <p:nvSpPr>
          <p:cNvPr id="34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IN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BD1221B-DED0-42AA-BA2F-50C60FED7E1B}" type="slidenum">
              <a:rPr lang="en-IN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pPr indent="0" algn="r" defTabSz="914400">
                <a:lnSpc>
                  <a:spcPct val="100000"/>
                </a:lnSpc>
                <a:buNone/>
              </a:pPr>
              <a:t>‹#›</a:t>
            </a:fld>
            <a:endParaRPr lang="en-IN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uFillTx/>
                <a:latin typeface="Aptos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uFillTx/>
                <a:latin typeface="Aptos"/>
              </a:rPr>
              <a:t>Click to edit Master text styles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Aptos"/>
              </a:rPr>
              <a:t>Second level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Aptos"/>
              </a:rPr>
              <a:t>Third level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uFillTx/>
                <a:latin typeface="Aptos"/>
              </a:rPr>
              <a:t>Fourth level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uFillTx/>
                <a:latin typeface="Aptos"/>
              </a:rPr>
              <a:t>Fifth level</a:t>
            </a: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uFillTx/>
                <a:latin typeface="Aptos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uFillTx/>
                <a:latin typeface="Aptos"/>
              </a:rPr>
              <a:t>Click to edit Master text styles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Aptos"/>
              </a:rPr>
              <a:t>Second level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Aptos"/>
              </a:rPr>
              <a:t>Third level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uFillTx/>
                <a:latin typeface="Aptos"/>
              </a:rPr>
              <a:t>Fourth level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uFillTx/>
                <a:latin typeface="Aptos"/>
              </a:rPr>
              <a:t>Fifth level</a:t>
            </a:r>
          </a:p>
        </p:txBody>
      </p:sp>
      <p:sp>
        <p:nvSpPr>
          <p:cNvPr id="43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IN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IN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 </a:t>
            </a:r>
            <a:endParaRPr lang="en-IN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uFillTx/>
                <a:latin typeface="Times New Roman"/>
              </a:rPr>
              <a:t> </a:t>
            </a:r>
          </a:p>
        </p:txBody>
      </p:sp>
      <p:sp>
        <p:nvSpPr>
          <p:cNvPr id="45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IN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663920A-B638-4407-8ADB-9090CC145F2F}" type="slidenum">
              <a:rPr lang="en-IN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pPr indent="0" algn="r" defTabSz="914400">
                <a:lnSpc>
                  <a:spcPct val="100000"/>
                </a:lnSpc>
                <a:buNone/>
              </a:pPr>
              <a:t>‹#›</a:t>
            </a:fld>
            <a:endParaRPr lang="en-IN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IN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IN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 </a:t>
            </a:r>
            <a:endParaRPr lang="en-IN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uFillTx/>
                <a:latin typeface="Times New Roman"/>
              </a:rPr>
              <a:t> </a:t>
            </a:r>
          </a:p>
        </p:txBody>
      </p:sp>
      <p:sp>
        <p:nvSpPr>
          <p:cNvPr id="49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IN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2763853-CD05-4887-B53D-F841696975EF}" type="slidenum">
              <a:rPr lang="en-IN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pPr indent="0" algn="r" defTabSz="914400">
                <a:lnSpc>
                  <a:spcPct val="100000"/>
                </a:lnSpc>
                <a:buNone/>
              </a:pPr>
              <a:t>‹#›</a:t>
            </a:fld>
            <a:endParaRPr lang="en-IN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IN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IN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 </a:t>
            </a:r>
            <a:endParaRPr lang="en-IN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uFillTx/>
                <a:latin typeface="Times New Roman"/>
              </a:rPr>
              <a:t> </a:t>
            </a:r>
          </a:p>
        </p:txBody>
      </p:sp>
      <p:sp>
        <p:nvSpPr>
          <p:cNvPr id="53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IN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CBEBB76-BD02-4295-AE94-265CEA979CB3}" type="slidenum">
              <a:rPr lang="en-IN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pPr indent="0" algn="r" defTabSz="914400">
                <a:lnSpc>
                  <a:spcPct val="100000"/>
                </a:lnSpc>
                <a:buNone/>
              </a:pPr>
              <a:t>‹#›</a:t>
            </a:fld>
            <a:endParaRPr lang="en-IN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uFillTx/>
                <a:latin typeface="Aptos"/>
              </a:rPr>
              <a:t>Click to edit the title text format</a:t>
            </a:r>
          </a:p>
        </p:txBody>
      </p:sp>
      <p:sp>
        <p:nvSpPr>
          <p:cNvPr id="5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uFillTx/>
                <a:latin typeface="Aptos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Aptos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uFillTx/>
                <a:latin typeface="Aptos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uFillTx/>
                <a:latin typeface="Aptos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Aptos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Aptos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Aptos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3200" b="0" u="none" strike="noStrike">
                <a:solidFill>
                  <a:schemeClr val="dk1"/>
                </a:solidFill>
                <a:uFillTx/>
                <a:latin typeface="Aptos Display"/>
              </a:rPr>
              <a:t>Click to edit Master title style</a:t>
            </a:r>
            <a:endParaRPr lang="en-US" sz="3200" b="0" u="none" strike="noStrik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uFillTx/>
                <a:latin typeface="Aptos"/>
              </a:rPr>
              <a:t>Click to edit Master text styles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uFillTx/>
                <a:latin typeface="Aptos"/>
              </a:rPr>
              <a:t>Second level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Aptos"/>
              </a:rPr>
              <a:t>Third level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Aptos"/>
              </a:rPr>
              <a:t>Fourth level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Aptos"/>
              </a:rPr>
              <a:t>Fifth level</a:t>
            </a: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uFillTx/>
                <a:latin typeface="Aptos"/>
              </a:rPr>
              <a:t>Click to edit Master text styles</a:t>
            </a:r>
          </a:p>
        </p:txBody>
      </p:sp>
      <p:sp>
        <p:nvSpPr>
          <p:cNvPr id="67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IN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IN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</a:p>
        </p:txBody>
      </p:sp>
      <p:sp>
        <p:nvSpPr>
          <p:cNvPr id="69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IN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245F0F8-249D-4F86-9207-CCA93966E23F}" type="slidenum">
              <a:rPr lang="en-IN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pPr indent="0" algn="r" defTabSz="914400">
                <a:lnSpc>
                  <a:spcPct val="100000"/>
                </a:lnSpc>
                <a:buNone/>
              </a:pPr>
              <a:t>‹#›</a:t>
            </a:fld>
            <a:endParaRPr lang="en-IN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3200" b="0" u="none" strike="noStrike">
                <a:solidFill>
                  <a:schemeClr val="dk1"/>
                </a:solidFill>
                <a:uFillTx/>
                <a:latin typeface="Aptos Display"/>
              </a:rPr>
              <a:t>Click to edit Master title style</a:t>
            </a:r>
            <a:endParaRPr lang="en-US" sz="3200" b="0" u="none" strike="noStrik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uFillTx/>
                <a:latin typeface="Aptos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uFillTx/>
                <a:latin typeface="Aptos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uFillTx/>
                <a:latin typeface="Aptos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uFillTx/>
                <a:latin typeface="Aptos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uFillTx/>
                <a:latin typeface="Aptos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uFillTx/>
                <a:latin typeface="Aptos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uFillTx/>
                <a:latin typeface="Aptos"/>
              </a:rPr>
              <a:t>Seventh Outline Level</a:t>
            </a: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uFillTx/>
                <a:latin typeface="Aptos"/>
              </a:rPr>
              <a:t>Click to edit Master text styles</a:t>
            </a:r>
          </a:p>
        </p:txBody>
      </p:sp>
      <p:sp>
        <p:nvSpPr>
          <p:cNvPr id="73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IN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IN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</a:p>
        </p:txBody>
      </p:sp>
      <p:sp>
        <p:nvSpPr>
          <p:cNvPr id="75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IN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2AAA2B6-4335-4D0C-8576-EB31457FBDDA}" type="slidenum">
              <a:rPr lang="en-IN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pPr indent="0" algn="r" defTabSz="914400">
                <a:lnSpc>
                  <a:spcPct val="100000"/>
                </a:lnSpc>
                <a:buNone/>
              </a:pPr>
              <a:t>‹#›</a:t>
            </a:fld>
            <a:endParaRPr lang="en-IN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4"/>
          <p:cNvPicPr/>
          <p:nvPr/>
        </p:nvPicPr>
        <p:blipFill>
          <a:blip r:embed="rId2"/>
          <a:stretch/>
        </p:blipFill>
        <p:spPr>
          <a:xfrm>
            <a:off x="381000" y="228600"/>
            <a:ext cx="1055160" cy="994680"/>
          </a:xfrm>
          <a:prstGeom prst="rect">
            <a:avLst/>
          </a:prstGeom>
          <a:ln w="0">
            <a:noFill/>
          </a:ln>
        </p:spPr>
      </p:pic>
      <p:sp>
        <p:nvSpPr>
          <p:cNvPr id="77" name="PlaceHolder 1"/>
          <p:cNvSpPr>
            <a:spLocks noGrp="1"/>
          </p:cNvSpPr>
          <p:nvPr>
            <p:ph type="subTitle"/>
          </p:nvPr>
        </p:nvSpPr>
        <p:spPr>
          <a:xfrm>
            <a:off x="1004040" y="3761280"/>
            <a:ext cx="10410840" cy="773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IN" sz="2400" b="1" u="none" strike="noStrike" dirty="0">
                <a:solidFill>
                  <a:srgbClr val="FF0000"/>
                </a:solidFill>
                <a:uFillTx/>
                <a:latin typeface="Times New Roman"/>
              </a:rPr>
              <a:t>Title:-</a:t>
            </a:r>
            <a:r>
              <a:rPr lang="en-IN" sz="2400" b="1" u="none" strike="noStrike" dirty="0" err="1">
                <a:solidFill>
                  <a:srgbClr val="FF0000"/>
                </a:solidFill>
                <a:uFillTx/>
                <a:latin typeface="Times New Roman"/>
              </a:rPr>
              <a:t>TasteTrove</a:t>
            </a:r>
            <a:endParaRPr lang="en-IN" sz="24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endParaRPr lang="en-IN" sz="32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8" name="TextBox 6"/>
          <p:cNvSpPr/>
          <p:nvPr/>
        </p:nvSpPr>
        <p:spPr>
          <a:xfrm>
            <a:off x="1143000" y="1524000"/>
            <a:ext cx="10737000" cy="51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just" defTabSz="584280">
              <a:lnSpc>
                <a:spcPct val="100000"/>
              </a:lnSpc>
            </a:pPr>
            <a:r>
              <a:rPr lang="en-IN" sz="2800" b="1" u="none" strike="noStrike" dirty="0">
                <a:solidFill>
                  <a:schemeClr val="accent4">
                    <a:lumMod val="75000"/>
                  </a:schemeClr>
                </a:solidFill>
                <a:uFillTx/>
                <a:latin typeface="Times New Roman"/>
              </a:rPr>
              <a:t>DEPARTMENT OF COMPUTER SCIENCE AND ENGINEERING</a:t>
            </a:r>
            <a:endParaRPr lang="en-IN" sz="28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9" name="TextBox 8"/>
          <p:cNvSpPr/>
          <p:nvPr/>
        </p:nvSpPr>
        <p:spPr>
          <a:xfrm>
            <a:off x="7109280" y="5460840"/>
            <a:ext cx="5082120" cy="113731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IN" sz="2000" b="1" u="none" strike="noStrike" dirty="0">
                <a:solidFill>
                  <a:schemeClr val="dk1"/>
                </a:solidFill>
                <a:uFillTx/>
                <a:latin typeface="Times New Roman"/>
              </a:rPr>
              <a:t> Presented By: </a:t>
            </a:r>
            <a:endParaRPr lang="en-IN" sz="20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r>
              <a:rPr lang="en-IN" sz="1600" dirty="0"/>
              <a:t>M.DILEEP KRISHNA-23B81A0576</a:t>
            </a:r>
            <a:endParaRPr lang="en-US" sz="1600" dirty="0"/>
          </a:p>
          <a:p>
            <a:r>
              <a:rPr lang="en-IN" sz="1600" dirty="0"/>
              <a:t>B.NIHAN REDDY-23B81A0589</a:t>
            </a:r>
            <a:endParaRPr lang="en-US" sz="1600" dirty="0"/>
          </a:p>
          <a:p>
            <a:r>
              <a:rPr lang="en-IN" sz="1600" dirty="0"/>
              <a:t>B.PRAJEETH REDDY-23B81A0592</a:t>
            </a:r>
            <a:endParaRPr lang="en-US" sz="1600" dirty="0"/>
          </a:p>
        </p:txBody>
      </p:sp>
      <p:sp>
        <p:nvSpPr>
          <p:cNvPr id="80" name="TextBox 7"/>
          <p:cNvSpPr/>
          <p:nvPr/>
        </p:nvSpPr>
        <p:spPr>
          <a:xfrm>
            <a:off x="2057400" y="304800"/>
            <a:ext cx="8825520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IN" sz="3200" b="0" u="none" strike="noStrike" dirty="0">
                <a:solidFill>
                  <a:schemeClr val="dk1"/>
                </a:solidFill>
                <a:uFillTx/>
                <a:latin typeface="CG Omega"/>
              </a:rPr>
              <a:t>             CVR COLLEGE OF ENGINEERING</a:t>
            </a:r>
            <a:endParaRPr lang="en-IN" sz="32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IN" sz="1600" b="0" u="none" strike="noStrike" dirty="0">
                <a:solidFill>
                  <a:schemeClr val="dk1"/>
                </a:solidFill>
                <a:uFillTx/>
                <a:latin typeface="Times New Roman"/>
              </a:rPr>
              <a:t>(An UGC Autonomous Institution, Affiliated By JNTUH, Accredited by NBA and NACC )</a:t>
            </a:r>
            <a:endParaRPr lang="en-IN" sz="16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1" name="TextBox 1"/>
          <p:cNvSpPr/>
          <p:nvPr/>
        </p:nvSpPr>
        <p:spPr>
          <a:xfrm>
            <a:off x="512640" y="5492160"/>
            <a:ext cx="2818440" cy="76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IN" sz="2000" b="1" u="none" strike="noStrike">
                <a:solidFill>
                  <a:schemeClr val="dk1"/>
                </a:solidFill>
                <a:uFillTx/>
                <a:latin typeface="Times New Roman"/>
              </a:rPr>
              <a:t>Professor Incharge</a:t>
            </a:r>
            <a:endParaRPr lang="en-IN" sz="20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IN" sz="2400" b="1" u="none" strike="noStrike">
                <a:solidFill>
                  <a:schemeClr val="dk1"/>
                </a:solidFill>
                <a:uFillTx/>
                <a:latin typeface="Times New Roman"/>
              </a:rPr>
              <a:t>  </a:t>
            </a:r>
            <a:r>
              <a:rPr lang="en-IN" sz="1800" b="1" u="none" strike="noStrike">
                <a:solidFill>
                  <a:schemeClr val="dk1"/>
                </a:solidFill>
                <a:uFillTx/>
                <a:latin typeface="Times New Roman"/>
              </a:rPr>
              <a:t>Dr. M. Swami Das</a:t>
            </a:r>
            <a:endParaRPr lang="en-IN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2" name="TextBox 3"/>
          <p:cNvSpPr/>
          <p:nvPr/>
        </p:nvSpPr>
        <p:spPr>
          <a:xfrm>
            <a:off x="3585960" y="5466960"/>
            <a:ext cx="2818440" cy="69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IN" sz="2000" b="1" u="none" strike="noStrike">
                <a:solidFill>
                  <a:schemeClr val="dk1"/>
                </a:solidFill>
                <a:uFillTx/>
                <a:latin typeface="Times New Roman"/>
              </a:rPr>
              <a:t>Section  Coordinator</a:t>
            </a:r>
            <a:endParaRPr lang="en-IN" sz="20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IN" sz="2000" b="1" u="none" strike="noStrike">
                <a:solidFill>
                  <a:schemeClr val="dk1"/>
                </a:solidFill>
                <a:uFillTx/>
                <a:latin typeface="Times New Roman"/>
              </a:rPr>
              <a:t>           T. Jyothi</a:t>
            </a:r>
            <a:endParaRPr lang="en-IN" sz="20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3" name="TextBox 5"/>
          <p:cNvSpPr/>
          <p:nvPr/>
        </p:nvSpPr>
        <p:spPr>
          <a:xfrm>
            <a:off x="4559040" y="3105360"/>
            <a:ext cx="3073320" cy="52176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GB" sz="2400" b="1" u="none" strike="noStrike" dirty="0">
                <a:solidFill>
                  <a:schemeClr val="accent5">
                    <a:lumMod val="75000"/>
                  </a:schemeClr>
                </a:solidFill>
                <a:uFillTx/>
                <a:latin typeface="Times New Roman"/>
              </a:rPr>
              <a:t>BATCH NO </a:t>
            </a:r>
            <a:r>
              <a:rPr lang="en-GB" sz="2800" b="1" u="none" strike="noStrike" dirty="0">
                <a:solidFill>
                  <a:schemeClr val="accent5">
                    <a:lumMod val="75000"/>
                  </a:schemeClr>
                </a:solidFill>
                <a:uFillTx/>
                <a:latin typeface="Times New Roman"/>
              </a:rPr>
              <a:t>–9 </a:t>
            </a:r>
            <a:endParaRPr lang="en-IN" sz="28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4" name="TextBox 9"/>
          <p:cNvSpPr/>
          <p:nvPr/>
        </p:nvSpPr>
        <p:spPr>
          <a:xfrm>
            <a:off x="2590800" y="2286000"/>
            <a:ext cx="7075800" cy="51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GB" sz="2800" b="1" u="none" strike="noStrike" dirty="0">
                <a:solidFill>
                  <a:srgbClr val="FF0000"/>
                </a:solidFill>
                <a:uFillTx/>
                <a:latin typeface="Times New Roman"/>
              </a:rPr>
              <a:t>Real - Time / Field - Based Research Project</a:t>
            </a:r>
            <a:endParaRPr lang="en-IN" sz="28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677160" y="365040"/>
            <a:ext cx="10676160" cy="77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algn="just" defTabSz="914400">
              <a:lnSpc>
                <a:spcPct val="90000"/>
              </a:lnSpc>
              <a:buNone/>
            </a:pPr>
            <a:r>
              <a:rPr lang="en-IN" sz="3200" b="1" u="none" strike="noStrike">
                <a:solidFill>
                  <a:srgbClr val="FF0000"/>
                </a:solidFill>
                <a:uFillTx/>
                <a:latin typeface="Times New Roman"/>
              </a:rPr>
              <a:t>AGENDA</a:t>
            </a:r>
            <a:endParaRPr lang="en-US" sz="3200" b="0" u="none" strike="noStrik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/>
          </p:nvPr>
        </p:nvSpPr>
        <p:spPr>
          <a:xfrm>
            <a:off x="677160" y="1312560"/>
            <a:ext cx="8596440" cy="5058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514440" indent="-51444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AutoNum type="arabicPeriod"/>
            </a:pPr>
            <a:r>
              <a:rPr lang="en-IN" sz="2800" b="0" u="none" strike="noStrike">
                <a:solidFill>
                  <a:schemeClr val="dk1"/>
                </a:solidFill>
                <a:uFillTx/>
                <a:latin typeface="Times New Roman"/>
              </a:rPr>
              <a:t>Abstract</a:t>
            </a:r>
            <a:endParaRPr lang="en-US" sz="2800" b="0" u="none" strike="noStrike">
              <a:solidFill>
                <a:schemeClr val="dk1"/>
              </a:solidFill>
              <a:uFillTx/>
              <a:latin typeface="Aptos"/>
            </a:endParaRPr>
          </a:p>
          <a:p>
            <a:pPr marL="514440" indent="-51444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AutoNum type="arabicPeriod"/>
            </a:pPr>
            <a:r>
              <a:rPr lang="en-IN" sz="2800" b="0" u="none" strike="noStrike">
                <a:solidFill>
                  <a:schemeClr val="dk1"/>
                </a:solidFill>
                <a:uFillTx/>
                <a:latin typeface="Times New Roman"/>
              </a:rPr>
              <a:t>Introduction</a:t>
            </a:r>
            <a:endParaRPr lang="en-US" sz="2800" b="0" u="none" strike="noStrike">
              <a:solidFill>
                <a:schemeClr val="dk1"/>
              </a:solidFill>
              <a:uFillTx/>
              <a:latin typeface="Aptos"/>
            </a:endParaRPr>
          </a:p>
          <a:p>
            <a:pPr marL="514440" indent="-51444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AutoNum type="arabicPeriod"/>
            </a:pPr>
            <a:r>
              <a:rPr lang="en-IN" sz="2800" b="0" u="none" strike="noStrike">
                <a:solidFill>
                  <a:schemeClr val="dk1"/>
                </a:solidFill>
                <a:uFillTx/>
                <a:latin typeface="Times New Roman"/>
              </a:rPr>
              <a:t>Literature Survey</a:t>
            </a:r>
            <a:endParaRPr lang="en-US" sz="2800" b="0" u="none" strike="noStrike">
              <a:solidFill>
                <a:schemeClr val="dk1"/>
              </a:solidFill>
              <a:uFillTx/>
              <a:latin typeface="Aptos"/>
            </a:endParaRPr>
          </a:p>
          <a:p>
            <a:pPr marL="514440" indent="-51444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AutoNum type="arabicPeriod"/>
            </a:pPr>
            <a:r>
              <a:rPr lang="en-IN" sz="2800" b="0" u="none" strike="noStrike">
                <a:solidFill>
                  <a:schemeClr val="dk1"/>
                </a:solidFill>
                <a:uFillTx/>
                <a:latin typeface="Times New Roman"/>
              </a:rPr>
              <a:t>Requirements Analysis</a:t>
            </a:r>
            <a:endParaRPr lang="en-US" sz="2800" b="0" u="none" strike="noStrike">
              <a:solidFill>
                <a:schemeClr val="dk1"/>
              </a:solidFill>
              <a:uFillTx/>
              <a:latin typeface="Aptos"/>
            </a:endParaRPr>
          </a:p>
          <a:p>
            <a:pPr marL="514440" indent="-51444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AutoNum type="arabicPeriod"/>
            </a:pPr>
            <a:r>
              <a:rPr lang="en-IN" sz="2800" b="0" u="none" strike="noStrike">
                <a:solidFill>
                  <a:schemeClr val="dk1"/>
                </a:solidFill>
                <a:uFillTx/>
                <a:latin typeface="Times New Roman"/>
              </a:rPr>
              <a:t>Design</a:t>
            </a:r>
            <a:endParaRPr lang="en-US" sz="2800" b="0" u="none" strike="noStrike">
              <a:solidFill>
                <a:schemeClr val="dk1"/>
              </a:solidFill>
              <a:uFillTx/>
              <a:latin typeface="Aptos"/>
            </a:endParaRPr>
          </a:p>
          <a:p>
            <a:pPr indent="0" defTabSz="914400">
              <a:lnSpc>
                <a:spcPct val="15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uFillTx/>
              <a:latin typeface="Aptos"/>
            </a:endParaRPr>
          </a:p>
          <a:p>
            <a:pPr indent="0" defTabSz="914400">
              <a:lnSpc>
                <a:spcPct val="15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uFillTx/>
              <a:latin typeface="Aptos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601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IN" sz="3200" b="1" u="none" strike="noStrike">
                <a:solidFill>
                  <a:srgbClr val="FF0000"/>
                </a:solidFill>
                <a:uFillTx/>
                <a:latin typeface="Times New Roman"/>
              </a:rPr>
              <a:t>ABSTARCT</a:t>
            </a:r>
            <a:endParaRPr lang="en-US" sz="3200" b="0" u="none" strike="noStrik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677160" y="967320"/>
            <a:ext cx="10929240" cy="5525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228600" indent="-2286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Wingdings" pitchFamily="2" charset="2"/>
              <a:buChar char="Ø"/>
            </a:pPr>
            <a:r>
              <a:rPr lang="en-US" sz="2800" b="1" dirty="0"/>
              <a:t>Intuitive Platform: </a:t>
            </a:r>
            <a:r>
              <a:rPr lang="en-US" sz="2800" dirty="0"/>
              <a:t>Taste Trove is a web-based recipe discovery tool designed to inspire home cooks.</a:t>
            </a:r>
            <a:r>
              <a:rPr lang="en-IN" sz="2800" dirty="0">
                <a:solidFill>
                  <a:schemeClr val="dk1"/>
                </a:solidFill>
                <a:latin typeface="Times New Roman"/>
              </a:rPr>
              <a:t> </a:t>
            </a:r>
            <a:endParaRPr lang="en-US" sz="2800" dirty="0">
              <a:solidFill>
                <a:schemeClr val="dk1"/>
              </a:solidFill>
              <a:latin typeface="Aptos"/>
            </a:endParaRPr>
          </a:p>
          <a:p>
            <a:pPr marL="228600" indent="-2286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Wingdings" pitchFamily="2" charset="2"/>
              <a:buChar char="Ø"/>
            </a:pPr>
            <a:r>
              <a:rPr lang="en-US" sz="2800" b="1" dirty="0"/>
              <a:t>Integrated Features:</a:t>
            </a:r>
            <a:r>
              <a:rPr lang="en-US" sz="2800" dirty="0"/>
              <a:t> Includes in-depth recipes, shopping list views, and interactive cooking timers for a better cooking experience.</a:t>
            </a:r>
          </a:p>
          <a:p>
            <a:pPr marL="228600" indent="-2286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Wingdings" pitchFamily="2" charset="2"/>
              <a:buChar char="Ø"/>
            </a:pPr>
            <a:r>
              <a:rPr lang="en-US" sz="2800" b="1" dirty="0"/>
              <a:t>User-friendly for all skill levels</a:t>
            </a:r>
            <a:r>
              <a:rPr lang="en-US" sz="2800" dirty="0"/>
              <a:t>: Whether a beginner or an expert, Taste Trove makes cooking enjoyable and accessible for everyone.</a:t>
            </a:r>
            <a:endParaRPr lang="en-US" sz="2800" b="0" u="none" strike="noStrike" dirty="0">
              <a:solidFill>
                <a:schemeClr val="dk1"/>
              </a:solidFill>
              <a:uFillTx/>
              <a:latin typeface="Aptos"/>
            </a:endParaRPr>
          </a:p>
          <a:p>
            <a:pPr>
              <a:lnSpc>
                <a:spcPct val="15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IN" sz="2600" b="1" u="none" strike="noStrike" dirty="0" err="1">
                <a:solidFill>
                  <a:schemeClr val="dk1"/>
                </a:solidFill>
                <a:uFillTx/>
                <a:latin typeface="Times New Roman"/>
              </a:rPr>
              <a:t>Keywords:</a:t>
            </a:r>
            <a:r>
              <a:rPr lang="en-IN" sz="2600" dirty="0" err="1"/>
              <a:t>powerful</a:t>
            </a:r>
            <a:r>
              <a:rPr lang="en-IN" sz="2600" dirty="0"/>
              <a:t> interface, advanced search features, popular recipes</a:t>
            </a:r>
            <a:r>
              <a:rPr lang="en-IN" sz="2800" dirty="0"/>
              <a:t>.</a:t>
            </a:r>
            <a:endParaRPr lang="en-US" sz="2800" b="0" u="none" strike="noStrike" dirty="0">
              <a:solidFill>
                <a:schemeClr val="dk1"/>
              </a:solidFill>
              <a:uFillTx/>
              <a:latin typeface="Aptos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652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IN" sz="3200" b="1" u="none" strike="noStrike">
                <a:solidFill>
                  <a:srgbClr val="FF0000"/>
                </a:solidFill>
                <a:uFillTx/>
                <a:latin typeface="Times New Roman"/>
              </a:rPr>
              <a:t>1. Introduction</a:t>
            </a:r>
            <a:endParaRPr lang="en-US" sz="3200" b="0" u="none" strike="noStrik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609600" y="990600"/>
            <a:ext cx="10972800" cy="5257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400" b="1" dirty="0"/>
              <a:t>Promotes Healthy Cooking:</a:t>
            </a:r>
            <a:r>
              <a:rPr lang="en-US" sz="2400" dirty="0"/>
              <a:t> This helps the user find healthy, delicious recipes to make informed choices about meals.</a:t>
            </a:r>
          </a:p>
          <a:p>
            <a:endParaRPr lang="en-US" sz="2400" dirty="0"/>
          </a:p>
          <a:p>
            <a:pPr>
              <a:buFont typeface="Wingdings" pitchFamily="2" charset="2"/>
              <a:buChar char="Ø"/>
            </a:pPr>
            <a:r>
              <a:rPr lang="en-US" sz="2400" b="1" dirty="0"/>
              <a:t>User Friendly Interface:</a:t>
            </a:r>
            <a:r>
              <a:rPr lang="en-US" sz="2400" dirty="0"/>
              <a:t> Easy design to look for recipes and track nutritional </a:t>
            </a:r>
          </a:p>
          <a:p>
            <a:r>
              <a:rPr lang="en-US" sz="2400" dirty="0"/>
              <a:t>contents.</a:t>
            </a:r>
          </a:p>
          <a:p>
            <a:endParaRPr lang="en-US" sz="2400" dirty="0"/>
          </a:p>
          <a:p>
            <a:pPr>
              <a:buFont typeface="Wingdings" pitchFamily="2" charset="2"/>
              <a:buChar char="Ø"/>
            </a:pPr>
            <a:r>
              <a:rPr lang="en-US" sz="2400" b="1" dirty="0"/>
              <a:t>Diverse Recipes:</a:t>
            </a:r>
            <a:r>
              <a:rPr lang="en-US" sz="2400" dirty="0"/>
              <a:t> Offers options for various dietary needs like vegan, gluten-  free, and high-protein.</a:t>
            </a:r>
            <a:br>
              <a:rPr lang="en-US" sz="2400" dirty="0"/>
            </a:br>
            <a:endParaRPr lang="en-US" sz="2400" dirty="0"/>
          </a:p>
          <a:p>
            <a:pPr>
              <a:buFont typeface="Wingdings" pitchFamily="2" charset="2"/>
              <a:buChar char="Ø"/>
            </a:pPr>
            <a:r>
              <a:rPr lang="en-US" sz="2400" b="1" dirty="0"/>
              <a:t>Convenient &amp; Educational</a:t>
            </a:r>
            <a:r>
              <a:rPr lang="en-US" sz="2400" dirty="0"/>
              <a:t>: Ease of use with nutritional education for healthier cooking.</a:t>
            </a:r>
            <a:br>
              <a:rPr lang="en-US" sz="2400" dirty="0"/>
            </a:br>
            <a:endParaRPr lang="en-US" sz="2400" dirty="0"/>
          </a:p>
          <a:p>
            <a:pPr>
              <a:buFont typeface="Wingdings" pitchFamily="2" charset="2"/>
              <a:buChar char="Ø"/>
            </a:pPr>
            <a:r>
              <a:rPr lang="en-US" sz="2400" b="1" dirty="0"/>
              <a:t>Global Reach: </a:t>
            </a:r>
            <a:r>
              <a:rPr lang="en-US" sz="2400" dirty="0"/>
              <a:t>Encourages home cooking worldwide, balancing flavor with nutrition</a:t>
            </a:r>
          </a:p>
        </p:txBody>
      </p:sp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677160" y="365040"/>
            <a:ext cx="10676160" cy="652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algn="just" defTabSz="914400">
              <a:lnSpc>
                <a:spcPct val="90000"/>
              </a:lnSpc>
              <a:buNone/>
            </a:pPr>
            <a:r>
              <a:rPr lang="en-IN" sz="3200" b="1" u="none" strike="noStrike" dirty="0">
                <a:solidFill>
                  <a:srgbClr val="FF0000"/>
                </a:solidFill>
                <a:uFillTx/>
                <a:latin typeface="Times New Roman"/>
              </a:rPr>
              <a:t>Motivation</a:t>
            </a:r>
            <a:endParaRPr lang="en-US" sz="3200" b="0" u="none" strike="noStrike" dirty="0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677160" y="914400"/>
            <a:ext cx="10905240" cy="5715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>
              <a:lnSpc>
                <a:spcPct val="150000"/>
              </a:lnSpc>
              <a:spcBef>
                <a:spcPts val="1001"/>
              </a:spcBef>
              <a:buFont typeface="Wingdings" pitchFamily="2" charset="2"/>
              <a:buChar char="Ø"/>
              <a:tabLst>
                <a:tab pos="0" algn="l"/>
              </a:tabLst>
            </a:pPr>
            <a:r>
              <a:rPr lang="en-US" sz="2400" b="1" dirty="0"/>
              <a:t>Healthy, Delicious Meals:</a:t>
            </a:r>
            <a:r>
              <a:rPr lang="en-US" sz="2400" dirty="0"/>
              <a:t> It empowers the users to make choices, knowing	 what they are eating, is delicious.</a:t>
            </a:r>
          </a:p>
          <a:p>
            <a:pPr>
              <a:lnSpc>
                <a:spcPct val="150000"/>
              </a:lnSpc>
              <a:spcBef>
                <a:spcPts val="1001"/>
              </a:spcBef>
              <a:buFont typeface="Wingdings" pitchFamily="2" charset="2"/>
              <a:buChar char="Ø"/>
              <a:tabLst>
                <a:tab pos="0" algn="l"/>
              </a:tabLst>
            </a:pPr>
            <a:r>
              <a:rPr lang="en-US" sz="2400" b="1" dirty="0"/>
              <a:t>Easy for All Cooks</a:t>
            </a:r>
            <a:r>
              <a:rPr lang="en-US" sz="2400" dirty="0"/>
              <a:t>: Simplifies meal prep and macronutrient tracking for all skill levels.</a:t>
            </a:r>
          </a:p>
          <a:p>
            <a:pPr>
              <a:lnSpc>
                <a:spcPct val="150000"/>
              </a:lnSpc>
              <a:spcBef>
                <a:spcPts val="1001"/>
              </a:spcBef>
              <a:buFont typeface="Wingdings" pitchFamily="2" charset="2"/>
              <a:buChar char="Ø"/>
              <a:tabLst>
                <a:tab pos="0" algn="l"/>
              </a:tabLst>
            </a:pPr>
            <a:r>
              <a:rPr lang="en-US" sz="2400" b="1" dirty="0"/>
              <a:t>Diverse Options:</a:t>
            </a:r>
            <a:r>
              <a:rPr lang="en-US" sz="2400" dirty="0"/>
              <a:t> It offers recipes for various diets and health goals, thus encouraging healthier lifestyles. </a:t>
            </a:r>
            <a:endParaRPr lang="en-US" sz="2400" b="0" u="none" strike="noStrike" dirty="0">
              <a:solidFill>
                <a:schemeClr val="dk1"/>
              </a:solidFill>
              <a:uFillTx/>
              <a:latin typeface="Aptos"/>
            </a:endParaRPr>
          </a:p>
          <a:p>
            <a:pPr indent="0" algn="just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IN" sz="3200" b="1" u="none" strike="noStrike" dirty="0">
                <a:solidFill>
                  <a:srgbClr val="FF0000"/>
                </a:solidFill>
                <a:uFillTx/>
                <a:latin typeface="Times New Roman"/>
              </a:rPr>
              <a:t>Problem Statement</a:t>
            </a:r>
          </a:p>
          <a:p>
            <a:pPr>
              <a:buFont typeface="Wingdings" pitchFamily="2" charset="2"/>
              <a:buChar char="Ø"/>
            </a:pPr>
            <a:r>
              <a:rPr lang="en-US" sz="2400" b="1" dirty="0"/>
              <a:t>Challenges in Healthy Cooking</a:t>
            </a:r>
            <a:r>
              <a:rPr lang="en-US" sz="2400" dirty="0"/>
              <a:t>: Many people struggle with healthy meal prep due to time, nutrition knowledge, and misconceptions about taste.</a:t>
            </a:r>
          </a:p>
          <a:p>
            <a:pPr>
              <a:buFont typeface="Wingdings" pitchFamily="2" charset="2"/>
              <a:buChar char="Ø"/>
            </a:pPr>
            <a:endParaRPr lang="en-US" sz="2400" dirty="0"/>
          </a:p>
          <a:p>
            <a:pPr>
              <a:buFont typeface="Wingdings" pitchFamily="2" charset="2"/>
              <a:buChar char="Ø"/>
            </a:pPr>
            <a:r>
              <a:rPr lang="en-US" sz="2400" b="1" dirty="0"/>
              <a:t>Easy, Nutritional Solution</a:t>
            </a:r>
            <a:r>
              <a:rPr lang="en-US" sz="2400" dirty="0"/>
              <a:t>: Our platform simplifies finding and preparing healthy meals with personalized recipes and nutrition info.</a:t>
            </a:r>
          </a:p>
          <a:p>
            <a:pPr indent="0" algn="just" defTabSz="914400">
              <a:lnSpc>
                <a:spcPct val="90000"/>
              </a:lnSpc>
              <a:buNone/>
              <a:tabLst>
                <a:tab pos="0" algn="l"/>
              </a:tabLst>
            </a:pPr>
            <a:endParaRPr lang="en-US" sz="3200" b="0" u="none" strike="noStrike" dirty="0">
              <a:solidFill>
                <a:schemeClr val="dk1"/>
              </a:solidFill>
              <a:uFillTx/>
              <a:latin typeface="Aptos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652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algn="just" defTabSz="914400">
              <a:lnSpc>
                <a:spcPct val="90000"/>
              </a:lnSpc>
              <a:buNone/>
            </a:pPr>
            <a:r>
              <a:rPr lang="en-IN" sz="3200" b="1" u="none" strike="noStrike">
                <a:solidFill>
                  <a:srgbClr val="FF0000"/>
                </a:solidFill>
                <a:uFillTx/>
                <a:latin typeface="Times New Roman"/>
              </a:rPr>
              <a:t>Objective of the Project</a:t>
            </a:r>
            <a:endParaRPr lang="en-US" sz="3200" b="0" u="none" strike="noStrik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/>
          </p:nvPr>
        </p:nvSpPr>
        <p:spPr>
          <a:xfrm>
            <a:off x="762000" y="1066800"/>
            <a:ext cx="1092924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"/>
            </a:pPr>
            <a:r>
              <a:rPr lang="en-US" sz="2400" b="1" dirty="0"/>
              <a:t>Encourages Healthy Eating:</a:t>
            </a:r>
            <a:r>
              <a:rPr lang="en-US" sz="2400" dirty="0"/>
              <a:t> Provides balanced recipes with fresh ingredients and detailed macronutrient information for informed meal preparation.</a:t>
            </a:r>
          </a:p>
          <a:p>
            <a:pPr marL="228600" indent="-2286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"/>
            </a:pPr>
            <a:r>
              <a:rPr lang="en-US" sz="2400" b="1" dirty="0"/>
              <a:t>Comprehensive Nutritional Data: </a:t>
            </a:r>
            <a:r>
              <a:rPr lang="en-US" sz="2400" dirty="0"/>
              <a:t>Provides macronutrient details for each recipe to help users align meals with their health goals.</a:t>
            </a:r>
          </a:p>
          <a:p>
            <a:pPr marL="228600" indent="-2286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"/>
            </a:pPr>
            <a:r>
              <a:rPr lang="en-US" sz="2400" b="1" dirty="0"/>
              <a:t>Efficient Recipe Search: </a:t>
            </a:r>
            <a:r>
              <a:rPr lang="en-US" sz="2400" dirty="0"/>
              <a:t>Features a quick, intuitive search function to find recipes by name.</a:t>
            </a:r>
          </a:p>
          <a:p>
            <a:pPr marL="228600" indent="-2286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</a:pPr>
            <a:br>
              <a:rPr lang="en-US" sz="2000" dirty="0"/>
            </a:br>
            <a:endParaRPr lang="en-US" sz="2000" dirty="0"/>
          </a:p>
        </p:txBody>
      </p:sp>
    </p:spTree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/>
          </p:nvPr>
        </p:nvSpPr>
        <p:spPr>
          <a:xfrm>
            <a:off x="533400" y="2819400"/>
            <a:ext cx="10972440" cy="1144800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"/>
            </a:pPr>
            <a:r>
              <a:rPr lang="en-US" sz="2400" b="1" dirty="0"/>
              <a:t>Saves Time: </a:t>
            </a:r>
            <a:r>
              <a:rPr lang="en-US" sz="2400" dirty="0"/>
              <a:t>Optimizes ingredient quantities and cooking times to make meal preparation quicker and easier without compromising quality.</a:t>
            </a:r>
            <a:br>
              <a:rPr lang="en-US" sz="2400" dirty="0"/>
            </a:br>
            <a:endParaRPr lang="en-US" sz="2400" dirty="0"/>
          </a:p>
          <a:p>
            <a:pPr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"/>
            </a:pPr>
            <a:r>
              <a:rPr lang="en-US" sz="2400" b="1" dirty="0"/>
              <a:t>Diverse Recipe Collection: </a:t>
            </a:r>
            <a:r>
              <a:rPr lang="en-US" sz="2400" dirty="0"/>
              <a:t>It provides a wide range of recipes to cater to different tastes, dietary needs, and cultural preferences.</a:t>
            </a:r>
            <a:endParaRPr lang="en-US" sz="2400" dirty="0">
              <a:solidFill>
                <a:schemeClr val="dk1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838080" y="219240"/>
            <a:ext cx="10515240" cy="652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IN" sz="3200" b="1" u="none" strike="noStrike">
                <a:solidFill>
                  <a:srgbClr val="FF0000"/>
                </a:solidFill>
                <a:uFillTx/>
                <a:latin typeface="Times New Roman"/>
              </a:rPr>
              <a:t>2. Literature Survey</a:t>
            </a:r>
            <a:endParaRPr lang="en-US" sz="3200" b="0" u="none" strike="noStrike">
              <a:solidFill>
                <a:schemeClr val="dk1"/>
              </a:solidFill>
              <a:uFillTx/>
              <a:latin typeface="Aptos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AF65157-8B38-7188-E397-E962D9A8D7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4306551"/>
              </p:ext>
            </p:extLst>
          </p:nvPr>
        </p:nvGraphicFramePr>
        <p:xfrm>
          <a:off x="838080" y="1143000"/>
          <a:ext cx="10972920" cy="476673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120">
                  <a:extLst>
                    <a:ext uri="{9D8B030D-6E8A-4147-A177-3AD203B41FA5}">
                      <a16:colId xmlns:a16="http://schemas.microsoft.com/office/drawing/2014/main" val="2350380667"/>
                    </a:ext>
                  </a:extLst>
                </a:gridCol>
                <a:gridCol w="3733800">
                  <a:extLst>
                    <a:ext uri="{9D8B030D-6E8A-4147-A177-3AD203B41FA5}">
                      <a16:colId xmlns:a16="http://schemas.microsoft.com/office/drawing/2014/main" val="32736396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135253116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037500106"/>
                    </a:ext>
                  </a:extLst>
                </a:gridCol>
              </a:tblGrid>
              <a:tr h="794456">
                <a:tc>
                  <a:txBody>
                    <a:bodyPr/>
                    <a:lstStyle/>
                    <a:p>
                      <a:r>
                        <a:rPr lang="en-GB" dirty="0"/>
                        <a:t>S No</a:t>
                      </a:r>
                      <a:endParaRPr lang="en-US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TITLE OF PROJECT</a:t>
                      </a:r>
                      <a:endParaRPr lang="en-US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DISADVANTAGES </a:t>
                      </a:r>
                      <a:endParaRPr lang="en-US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ADVANTAGES</a:t>
                      </a:r>
                      <a:endParaRPr lang="en-US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7122111"/>
                  </a:ext>
                </a:extLst>
              </a:tr>
              <a:tr h="794456">
                <a:tc>
                  <a:txBody>
                    <a:bodyPr/>
                    <a:lstStyle/>
                    <a:p>
                      <a:r>
                        <a:rPr lang="en-GB" dirty="0"/>
                        <a:t>1.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CookBook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Paid subscription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 friendly interface 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1343590"/>
                  </a:ext>
                </a:extLst>
              </a:tr>
              <a:tr h="794456">
                <a:tc>
                  <a:txBody>
                    <a:bodyPr/>
                    <a:lstStyle/>
                    <a:p>
                      <a:r>
                        <a:rPr lang="en-GB" dirty="0"/>
                        <a:t>2.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MealBoard</a:t>
                      </a:r>
                      <a:endParaRPr lang="en-US" sz="24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Complex interface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9132091"/>
                  </a:ext>
                </a:extLst>
              </a:tr>
              <a:tr h="794456">
                <a:tc>
                  <a:txBody>
                    <a:bodyPr/>
                    <a:lstStyle/>
                    <a:p>
                      <a:r>
                        <a:rPr lang="en-GB" dirty="0"/>
                        <a:t>3.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Tandoor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Requires self-hosting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U</a:t>
                      </a:r>
                      <a:r>
                        <a:rPr lang="en-GB" sz="2000" dirty="0"/>
                        <a:t>nique and various dishes .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5711201"/>
                  </a:ext>
                </a:extLst>
              </a:tr>
              <a:tr h="794456">
                <a:tc>
                  <a:txBody>
                    <a:bodyPr/>
                    <a:lstStyle/>
                    <a:p>
                      <a:r>
                        <a:rPr lang="en-GB" dirty="0"/>
                        <a:t>4.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BigOven</a:t>
                      </a:r>
                      <a:r>
                        <a:rPr lang="en-US" sz="2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Lot of </a:t>
                      </a:r>
                      <a:r>
                        <a:rPr lang="en-GB" sz="2000" dirty="0" err="1"/>
                        <a:t>ads,some</a:t>
                      </a:r>
                      <a:r>
                        <a:rPr lang="en-GB" sz="2000" dirty="0"/>
                        <a:t> features unlock at pro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 err="1"/>
                        <a:t>Creats</a:t>
                      </a:r>
                      <a:r>
                        <a:rPr lang="en-GB" sz="2000" dirty="0"/>
                        <a:t> user community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6318260"/>
                  </a:ext>
                </a:extLst>
              </a:tr>
              <a:tr h="794456">
                <a:tc>
                  <a:txBody>
                    <a:bodyPr/>
                    <a:lstStyle/>
                    <a:p>
                      <a:r>
                        <a:rPr lang="en-GB" dirty="0"/>
                        <a:t>5.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ChefTap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Occasional syncing issues 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Sync over multiple devices.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0381058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589BFAB9-43F2-B368-C803-C6170103CA3A}"/>
              </a:ext>
            </a:extLst>
          </p:cNvPr>
          <p:cNvSpPr txBox="1"/>
          <p:nvPr/>
        </p:nvSpPr>
        <p:spPr>
          <a:xfrm>
            <a:off x="8744243" y="2721114"/>
            <a:ext cx="304917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ea typeface="Calibri" panose="020F0502020204030204" pitchFamily="34" charset="0"/>
              </a:rPr>
              <a:t>S</a:t>
            </a:r>
            <a:r>
              <a:rPr lang="en-US" sz="2000" dirty="0">
                <a:effectLst/>
                <a:ea typeface="Calibri" panose="020F0502020204030204" pitchFamily="34" charset="0"/>
              </a:rPr>
              <a:t>implifies meal planning, grocery shopping.</a:t>
            </a:r>
            <a:endParaRPr lang="en-US" sz="2000" dirty="0"/>
          </a:p>
        </p:txBody>
      </p:sp>
    </p:spTree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838080" y="232560"/>
            <a:ext cx="10515240" cy="652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IN" sz="3200" b="1" u="none" strike="noStrike">
                <a:solidFill>
                  <a:srgbClr val="FF0000"/>
                </a:solidFill>
                <a:uFillTx/>
                <a:latin typeface="Times New Roman"/>
              </a:rPr>
              <a:t>3. Requirements Analysis</a:t>
            </a:r>
            <a:endParaRPr lang="en-US" sz="3200" b="0" u="none" strike="noStrik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838080" y="885240"/>
            <a:ext cx="10929240" cy="5607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2500" lnSpcReduction="20000"/>
          </a:bodyPr>
          <a:lstStyle/>
          <a:p>
            <a:pPr indent="0" defTabSz="914400">
              <a:lnSpc>
                <a:spcPct val="15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IN" sz="2800" b="1" u="none" strike="noStrike" dirty="0">
                <a:solidFill>
                  <a:srgbClr val="FF0000"/>
                </a:solidFill>
                <a:uFillTx/>
                <a:latin typeface="Times New Roman"/>
              </a:rPr>
              <a:t>Software Requirement Specifications </a:t>
            </a:r>
            <a:endParaRPr lang="en-US" sz="2800" b="0" u="none" strike="noStrike" dirty="0">
              <a:solidFill>
                <a:schemeClr val="dk1"/>
              </a:solidFill>
              <a:uFillTx/>
              <a:latin typeface="Aptos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600" b="0" u="none" strike="noStrike" dirty="0">
                <a:solidFill>
                  <a:schemeClr val="dk1"/>
                </a:solidFill>
                <a:uFillTx/>
              </a:rPr>
              <a:t> </a:t>
            </a:r>
            <a:r>
              <a:rPr lang="en-US" sz="2600" b="1" dirty="0"/>
              <a:t>User Management:</a:t>
            </a:r>
            <a:endParaRPr lang="en-US" sz="2600" dirty="0"/>
          </a:p>
          <a:p>
            <a:r>
              <a:rPr lang="en-US" sz="2600" dirty="0"/>
              <a:t>  Two-Factor Authentication (2FA) for user registration and login using phone and         email verification.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6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600" b="1" dirty="0"/>
              <a:t>Recipe Management:</a:t>
            </a:r>
            <a:endParaRPr lang="en-US" sz="2600" dirty="0"/>
          </a:p>
          <a:p>
            <a:r>
              <a:rPr lang="en-US" sz="2600" dirty="0"/>
              <a:t> Add, edit, and delete recipes with prompts to guide users through required fields.</a:t>
            </a:r>
          </a:p>
          <a:p>
            <a:endParaRPr lang="en-US" sz="26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600" b="1" dirty="0"/>
              <a:t>Search and Filter:</a:t>
            </a:r>
            <a:endParaRPr lang="en-US" sz="2600" dirty="0"/>
          </a:p>
          <a:p>
            <a:r>
              <a:rPr lang="en-US" sz="2600" dirty="0"/>
              <a:t> Keyword-based search with results filtering and no matches notification.</a:t>
            </a:r>
          </a:p>
          <a:p>
            <a:pPr indent="0" defTabSz="914400">
              <a:lnSpc>
                <a:spcPct val="15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IN" sz="2800" b="1" u="none" strike="noStrike" dirty="0">
                <a:solidFill>
                  <a:srgbClr val="FF0000"/>
                </a:solidFill>
                <a:uFillTx/>
                <a:latin typeface="Times New Roman"/>
              </a:rPr>
              <a:t>Hardware Requirement Specifications </a:t>
            </a:r>
            <a:endParaRPr lang="en-US" sz="2800" b="0" u="none" strike="noStrike" dirty="0">
              <a:solidFill>
                <a:schemeClr val="dk1"/>
              </a:solidFill>
              <a:uFillTx/>
              <a:latin typeface="Aptos"/>
            </a:endParaRPr>
          </a:p>
          <a:p>
            <a:pPr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tabLst>
                <a:tab pos="0" algn="l"/>
              </a:tabLst>
            </a:pPr>
            <a:r>
              <a:rPr lang="en-IN" sz="2800" b="0" u="none" strike="noStrike" dirty="0">
                <a:solidFill>
                  <a:schemeClr val="dk1"/>
                </a:solidFill>
                <a:uFillTx/>
                <a:latin typeface="Times New Roman"/>
              </a:rPr>
              <a:t> </a:t>
            </a:r>
            <a:endParaRPr lang="en-US" sz="2800" b="0" u="none" strike="noStrike" dirty="0">
              <a:solidFill>
                <a:schemeClr val="dk1"/>
              </a:solidFill>
              <a:uFillTx/>
              <a:latin typeface="Aptos"/>
            </a:endParaRPr>
          </a:p>
          <a:p>
            <a:pPr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tabLst>
                <a:tab pos="0" algn="l"/>
              </a:tabLst>
            </a:pPr>
            <a:r>
              <a:rPr lang="en-IN" sz="2800" b="0" u="none" strike="noStrike" dirty="0">
                <a:solidFill>
                  <a:schemeClr val="dk1"/>
                </a:solidFill>
                <a:uFillTx/>
                <a:latin typeface="Times New Roman"/>
              </a:rPr>
              <a:t>  </a:t>
            </a:r>
            <a:endParaRPr lang="en-US" sz="2800" b="0" u="none" strike="noStrike" dirty="0">
              <a:solidFill>
                <a:schemeClr val="dk1"/>
              </a:solidFill>
              <a:uFillTx/>
              <a:latin typeface="Aptos"/>
            </a:endParaRPr>
          </a:p>
          <a:p>
            <a:pPr marL="228600" indent="-2286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tabLst>
                <a:tab pos="0" algn="l"/>
              </a:tabLst>
            </a:pPr>
            <a:r>
              <a:rPr lang="en-IN" sz="2800" b="0" u="none" strike="noStrike" dirty="0">
                <a:solidFill>
                  <a:schemeClr val="dk1"/>
                </a:solidFill>
                <a:uFillTx/>
                <a:latin typeface="Times New Roman"/>
              </a:rPr>
              <a:t> </a:t>
            </a:r>
            <a:endParaRPr lang="en-US" sz="2800" b="0" u="none" strike="noStrike" dirty="0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84FE916-B352-28F7-3FC6-23739A397A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080" y="4423517"/>
            <a:ext cx="11277600" cy="22159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Server-Side Hardware: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Multi-core processor (e.g., Intel Xeon or AMD EPYC) with at least 2.5 GHz processing speed, 8 GB RAM, 300 GB SSD.</a:t>
            </a:r>
            <a:endParaRPr lang="en-US" altLang="en-US" sz="2000" dirty="0"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Client-Side Hardware: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Minimum 2 GHz dual-core processor, 4 GB RAM, 128 GB storage, stable internet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connectionwith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at least 5 Mbps speed.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652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IN" sz="3200" b="1" u="none" strike="noStrike">
                <a:solidFill>
                  <a:srgbClr val="FF0000"/>
                </a:solidFill>
                <a:uFillTx/>
                <a:latin typeface="Times New Roman"/>
              </a:rPr>
              <a:t>4. Design</a:t>
            </a:r>
            <a:endParaRPr lang="en-US" sz="3200" b="0" u="none" strike="noStrike">
              <a:solidFill>
                <a:schemeClr val="dk1"/>
              </a:solidFill>
              <a:uFillTx/>
              <a:latin typeface="Apto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5B35FC9-C252-02D2-28D5-E22B106F8E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657672"/>
            <a:ext cx="3962520" cy="616267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CA04E31-E4BA-8709-45DA-E182DF97D1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8800" y="1268498"/>
            <a:ext cx="6248400" cy="522446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AFDD09D-D92F-A678-7D0E-9D59BE142380}"/>
              </a:ext>
            </a:extLst>
          </p:cNvPr>
          <p:cNvSpPr txBox="1"/>
          <p:nvPr/>
        </p:nvSpPr>
        <p:spPr>
          <a:xfrm>
            <a:off x="4228719" y="2967335"/>
            <a:ext cx="373456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5400" dirty="0"/>
              <a:t>Thank</a:t>
            </a:r>
            <a:r>
              <a:rPr lang="en-IN" sz="5400" spc="-90" dirty="0"/>
              <a:t> </a:t>
            </a:r>
            <a:r>
              <a:rPr lang="en-IN" sz="5400" spc="-25" dirty="0"/>
              <a:t>you</a:t>
            </a:r>
            <a:endParaRPr lang="en-IN" sz="5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279</TotalTime>
  <Words>650</Words>
  <Application>Microsoft Office PowerPoint</Application>
  <PresentationFormat>Widescreen</PresentationFormat>
  <Paragraphs>94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11</vt:i4>
      </vt:variant>
      <vt:variant>
        <vt:lpstr>Slide Titles</vt:lpstr>
      </vt:variant>
      <vt:variant>
        <vt:i4>11</vt:i4>
      </vt:variant>
    </vt:vector>
  </HeadingPairs>
  <TitlesOfParts>
    <vt:vector size="30" baseType="lpstr">
      <vt:lpstr>Aptos</vt:lpstr>
      <vt:lpstr>Aptos Display</vt:lpstr>
      <vt:lpstr>Arial</vt:lpstr>
      <vt:lpstr>Calibri</vt:lpstr>
      <vt:lpstr>CG Omega</vt:lpstr>
      <vt:lpstr>Symbol</vt:lpstr>
      <vt:lpstr>Times New Roman</vt:lpstr>
      <vt:lpstr>Wingdings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PowerPoint Presentation</vt:lpstr>
      <vt:lpstr>AGENDA</vt:lpstr>
      <vt:lpstr>ABSTARCT</vt:lpstr>
      <vt:lpstr>1. Introduction</vt:lpstr>
      <vt:lpstr>Motivation</vt:lpstr>
      <vt:lpstr>Objective of the Project</vt:lpstr>
      <vt:lpstr>PowerPoint Presentation</vt:lpstr>
      <vt:lpstr>2. Literature Survey</vt:lpstr>
      <vt:lpstr>3. Requirements Analysis</vt:lpstr>
      <vt:lpstr>4. Design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CVR COLLEGE OF ENGINEERING</dc:title>
  <dc:subject/>
  <dc:creator>ABHIRAM POSHAM</dc:creator>
  <dc:description/>
  <cp:lastModifiedBy>Dileep Krishna.M</cp:lastModifiedBy>
  <cp:revision>39</cp:revision>
  <dcterms:created xsi:type="dcterms:W3CDTF">2023-10-16T14:48:09Z</dcterms:created>
  <dcterms:modified xsi:type="dcterms:W3CDTF">2025-02-13T16:14:29Z</dcterms:modified>
  <dc:language>en-IN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11</vt:i4>
  </property>
</Properties>
</file>