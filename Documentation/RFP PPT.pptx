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7" r:id="rId18"/>
    <p:sldId id="262" r:id="rId19"/>
    <p:sldId id="264" r:id="rId20"/>
    <p:sldId id="265" r:id="rId21"/>
    <p:sldId id="266" r:id="rId2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210B8E2-4F7A-47AE-9AE6-1CFF71598C18}" type="slidenum">
              <a:rPr/>
              <a:p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9EA15FA-9479-463C-AB6D-E364FFF264D3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396304D-E0AD-4F01-AF82-B0026C54A898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508E66-1D69-4ED3-BFEA-C16C948D27AA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A367ED5-BA53-4AC6-8172-C77AF61A26E5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20DBE3D-24EC-4D8E-B569-DDE781F6B341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247942D-CC6D-49C5-B899-84D702B27629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5EBBD44-7399-4E7B-B463-C5C536CE0DA7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CECFC8C-A5AB-44D8-9D13-3846FD694D62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FD6B37-EFA3-42EC-98A1-7509F4C4729B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C08C59-9EA3-4C22-8A88-43FCC99CACF9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1AAD2A36-C066-4393-9CDF-0AC557A7A34F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F31A324-501C-434C-A830-7878DF3187AE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F681BC0-2C78-4158-A25E-0CA98A4B78A4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8975000-804A-441D-983F-245B3C6D6BC1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35F4727-EFD0-417E-9ED5-B9F40810ADA6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8ADFE20-30D4-4AF4-AF66-D628E7215BEC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3FD28-C46F-485C-83AA-E1881408C2E6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806B03-5474-4F10-B343-3780549D79A9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E8FA2-4014-46A1-9FF2-68962E692B35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395783-523C-4EC5-9182-D46715F07F29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A11F26-F02E-4796-9685-03712E92582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D1221B-DED0-42AA-BA2F-50C60FED7E1B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3920A-B638-4407-8ADB-9090CC145F2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63853-CD05-4887-B53D-F841696975E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 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EBB76-BD02-4295-AE94-265CEA979CB3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Aptos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Aptos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ptos"/>
              </a:rPr>
              <a:t>Fifth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5F0F8-249D-4F86-9207-CCA93966E23F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Aptos"/>
              </a:rPr>
              <a:t>Click to edit Master text styles</a:t>
            </a: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AA2B6-4335-4D0C-8576-EB31457FBDDA}" type="slidenum">
              <a:rPr lang="en-IN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IN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4"/>
          <p:cNvPicPr/>
          <p:nvPr/>
        </p:nvPicPr>
        <p:blipFill>
          <a:blip r:embed="rId2"/>
          <a:stretch/>
        </p:blipFill>
        <p:spPr>
          <a:xfrm>
            <a:off x="381000" y="228600"/>
            <a:ext cx="1055160" cy="99468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subTitle"/>
          </p:nvPr>
        </p:nvSpPr>
        <p:spPr>
          <a:xfrm>
            <a:off x="1004040" y="3761280"/>
            <a:ext cx="10410840" cy="77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400" b="1" u="none" strike="noStrike" dirty="0">
                <a:solidFill>
                  <a:srgbClr val="FF0000"/>
                </a:solidFill>
                <a:uFillTx/>
                <a:latin typeface="Times New Roman"/>
              </a:rPr>
              <a:t>Title:-</a:t>
            </a:r>
            <a:r>
              <a:rPr lang="en-IN" sz="2400" b="1" u="none" strike="noStrike" dirty="0" err="1">
                <a:solidFill>
                  <a:srgbClr val="FF0000"/>
                </a:solidFill>
                <a:uFillTx/>
                <a:latin typeface="Times New Roman"/>
              </a:rPr>
              <a:t>TasteTrove</a:t>
            </a:r>
            <a:endParaRPr lang="en-IN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IN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1143000" y="1524000"/>
            <a:ext cx="10737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584280">
              <a:lnSpc>
                <a:spcPct val="100000"/>
              </a:lnSpc>
            </a:pPr>
            <a:r>
              <a:rPr lang="en-IN" sz="2800" b="1" u="none" strike="noStrike" dirty="0">
                <a:solidFill>
                  <a:schemeClr val="accent4">
                    <a:lumMod val="75000"/>
                  </a:schemeClr>
                </a:solidFill>
                <a:uFillTx/>
                <a:latin typeface="Times New Roman"/>
              </a:rPr>
              <a:t>DEPARTMENT OF COMPUTER SCIENCE AND ENGINEERING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7109280" y="5460840"/>
            <a:ext cx="5082120" cy="1137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 dirty="0">
                <a:solidFill>
                  <a:schemeClr val="dk1"/>
                </a:solidFill>
                <a:uFillTx/>
                <a:latin typeface="Times New Roman"/>
              </a:rPr>
              <a:t> Presented By: </a:t>
            </a:r>
            <a:endParaRPr lang="en-IN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IN" sz="1600" dirty="0"/>
              <a:t>M.DILEEP KRISHNA-23B81A0576</a:t>
            </a:r>
            <a:endParaRPr lang="en-US" sz="1600" dirty="0"/>
          </a:p>
          <a:p>
            <a:r>
              <a:rPr lang="en-IN" sz="1600" dirty="0"/>
              <a:t>B.NIHAN REDDY-23B81A0589</a:t>
            </a:r>
            <a:endParaRPr lang="en-US" sz="1600" dirty="0"/>
          </a:p>
          <a:p>
            <a:r>
              <a:rPr lang="en-IN" sz="1600" dirty="0"/>
              <a:t>B.PRAJEETH REDDY-23B81A0592</a:t>
            </a:r>
            <a:endParaRPr lang="en-US" sz="1600" dirty="0"/>
          </a:p>
        </p:txBody>
      </p:sp>
      <p:sp>
        <p:nvSpPr>
          <p:cNvPr id="80" name="TextBox 7"/>
          <p:cNvSpPr/>
          <p:nvPr/>
        </p:nvSpPr>
        <p:spPr>
          <a:xfrm>
            <a:off x="2057400" y="304800"/>
            <a:ext cx="882552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3200" b="0" u="none" strike="noStrike" dirty="0">
                <a:solidFill>
                  <a:schemeClr val="dk1"/>
                </a:solidFill>
                <a:uFillTx/>
                <a:latin typeface="CG Omega"/>
              </a:rPr>
              <a:t>             CVR COLLEGE OF ENGINEERING</a:t>
            </a:r>
            <a:endParaRPr lang="en-IN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1600" b="0" u="none" strike="noStrike" dirty="0">
                <a:solidFill>
                  <a:schemeClr val="dk1"/>
                </a:solidFill>
                <a:uFillTx/>
                <a:latin typeface="Times New Roman"/>
              </a:rPr>
              <a:t>(An UGC Autonomous Institution, Affiliated By JNTUH, Accredited by NBA and NACC )</a:t>
            </a:r>
            <a:endParaRPr lang="en-IN" sz="1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Box 1"/>
          <p:cNvSpPr/>
          <p:nvPr/>
        </p:nvSpPr>
        <p:spPr>
          <a:xfrm>
            <a:off x="512640" y="5492160"/>
            <a:ext cx="2818440" cy="76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Professor Incharge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400" b="1" u="none" strike="noStrike">
                <a:solidFill>
                  <a:schemeClr val="dk1"/>
                </a:solidFill>
                <a:uFillTx/>
                <a:latin typeface="Times New Roman"/>
              </a:rPr>
              <a:t>  </a:t>
            </a:r>
            <a:r>
              <a:rPr lang="en-IN" sz="1800" b="1" u="none" strike="noStrike">
                <a:solidFill>
                  <a:schemeClr val="dk1"/>
                </a:solidFill>
                <a:uFillTx/>
                <a:latin typeface="Times New Roman"/>
              </a:rPr>
              <a:t>Dr. M. Swami Das</a:t>
            </a:r>
            <a:endParaRPr lang="en-IN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3585960" y="5466960"/>
            <a:ext cx="28184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Section  Coordinator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uFillTx/>
                <a:latin typeface="Times New Roman"/>
              </a:rPr>
              <a:t>           T. Jyothi</a:t>
            </a:r>
            <a:endParaRPr lang="en-IN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559040" y="3105360"/>
            <a:ext cx="3073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400" b="1" u="none" strike="noStrike" dirty="0">
                <a:solidFill>
                  <a:schemeClr val="accent5">
                    <a:lumMod val="75000"/>
                  </a:schemeClr>
                </a:solidFill>
                <a:uFillTx/>
                <a:latin typeface="Times New Roman"/>
              </a:rPr>
              <a:t>BATCH NO </a:t>
            </a:r>
            <a:r>
              <a:rPr lang="en-GB" sz="2800" b="1" u="none" strike="noStrike" dirty="0">
                <a:solidFill>
                  <a:schemeClr val="accent5">
                    <a:lumMod val="75000"/>
                  </a:schemeClr>
                </a:solidFill>
                <a:uFillTx/>
                <a:latin typeface="Times New Roman"/>
              </a:rPr>
              <a:t>–9 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2590800" y="2286000"/>
            <a:ext cx="70758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GB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Real - Time / Field - Based Research Project</a:t>
            </a:r>
            <a:endParaRPr lang="en-IN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77160" y="365040"/>
            <a:ext cx="10676160" cy="77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AGENDA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77160" y="1312560"/>
            <a:ext cx="8596440" cy="505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Abstract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Introduction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Literature Survey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Requirements Analysis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marL="514440" indent="-51444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en-IN" sz="2800" b="0" u="none" strike="noStrike">
                <a:solidFill>
                  <a:schemeClr val="dk1"/>
                </a:solidFill>
                <a:uFillTx/>
                <a:latin typeface="Times New Roman"/>
              </a:rPr>
              <a:t>Design</a:t>
            </a: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0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ABSTARCT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77160" y="967320"/>
            <a:ext cx="10929240" cy="552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Intuitive Platform: </a:t>
            </a:r>
            <a:r>
              <a:rPr lang="en-US" sz="2800" dirty="0"/>
              <a:t>Taste Trove is a web-based recipe discovery tool designed to inspire home cooks.</a:t>
            </a:r>
            <a:r>
              <a:rPr lang="en-IN" sz="2800" dirty="0">
                <a:solidFill>
                  <a:schemeClr val="dk1"/>
                </a:solidFill>
                <a:latin typeface="Times New Roman"/>
              </a:rPr>
              <a:t> </a:t>
            </a:r>
            <a:endParaRPr lang="en-US" sz="2800" dirty="0">
              <a:solidFill>
                <a:schemeClr val="dk1"/>
              </a:solidFill>
              <a:latin typeface="Aptos"/>
            </a:endParaRP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Integrated Features:</a:t>
            </a:r>
            <a:r>
              <a:rPr lang="en-US" sz="2800" dirty="0"/>
              <a:t> Includes in-depth recipes, shopping list views, and interactive cooking timers for a better cooking experience.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pitchFamily="2" charset="2"/>
              <a:buChar char="Ø"/>
            </a:pPr>
            <a:r>
              <a:rPr lang="en-US" sz="2800" b="1" dirty="0"/>
              <a:t>User-friendly for all skill levels</a:t>
            </a:r>
            <a:r>
              <a:rPr lang="en-US" sz="2800" dirty="0"/>
              <a:t>: Whether a beginner or an expert, Taste Trove makes cooking enjoyable and accessible for everyone.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>
              <a:lnSpc>
                <a:spcPct val="15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IN" sz="2600" b="1" u="none" strike="noStrike" dirty="0" err="1">
                <a:solidFill>
                  <a:schemeClr val="dk1"/>
                </a:solidFill>
                <a:uFillTx/>
                <a:latin typeface="Times New Roman"/>
              </a:rPr>
              <a:t>Keywords:</a:t>
            </a:r>
            <a:r>
              <a:rPr lang="en-IN" sz="2600" dirty="0" err="1"/>
              <a:t>powerful</a:t>
            </a:r>
            <a:r>
              <a:rPr lang="en-IN" sz="2600" dirty="0"/>
              <a:t> interface, advanced search features, popular recipes</a:t>
            </a:r>
            <a:r>
              <a:rPr lang="en-IN" sz="2800" dirty="0"/>
              <a:t>.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1. Introduction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600" y="990600"/>
            <a:ext cx="109728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/>
              <a:t>Promotes Healthy Cooking:</a:t>
            </a:r>
            <a:r>
              <a:rPr lang="en-US" sz="2400" dirty="0"/>
              <a:t> This helps the user find healthy, delicious recipes to make informed choices about meals.</a:t>
            </a:r>
          </a:p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User Friendly Interface:</a:t>
            </a:r>
            <a:r>
              <a:rPr lang="en-US" sz="2400" dirty="0"/>
              <a:t> Easy design to look for recipes and track nutritional </a:t>
            </a:r>
          </a:p>
          <a:p>
            <a:r>
              <a:rPr lang="en-US" sz="2400" dirty="0"/>
              <a:t>contents.</a:t>
            </a:r>
          </a:p>
          <a:p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Diverse Recipes:</a:t>
            </a:r>
            <a:r>
              <a:rPr lang="en-US" sz="2400" dirty="0"/>
              <a:t> Offers options for various dietary needs like vegan, gluten-  free, and high-protein.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Convenient &amp; Educational</a:t>
            </a:r>
            <a:r>
              <a:rPr lang="en-US" sz="2400" dirty="0"/>
              <a:t>: Ease of use with nutritional education for healthier cooking.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Global Reach: </a:t>
            </a:r>
            <a:r>
              <a:rPr lang="en-US" sz="2400" dirty="0"/>
              <a:t>Encourages home cooking worldwide, balancing flavor with nutrition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77160" y="365040"/>
            <a:ext cx="1067616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 dirty="0">
                <a:solidFill>
                  <a:srgbClr val="FF0000"/>
                </a:solidFill>
                <a:uFillTx/>
                <a:latin typeface="Times New Roman"/>
              </a:rPr>
              <a:t>Motivation</a:t>
            </a:r>
            <a:endParaRPr lang="en-US" sz="32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77160" y="914400"/>
            <a:ext cx="10905240" cy="571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Healthy, Delicious Meals:</a:t>
            </a:r>
            <a:r>
              <a:rPr lang="en-US" sz="2400" dirty="0"/>
              <a:t> It empowers the users to make choices, knowing	 what they are eating, is delicious.</a:t>
            </a:r>
          </a:p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Easy for All Cooks</a:t>
            </a:r>
            <a:r>
              <a:rPr lang="en-US" sz="2400" dirty="0"/>
              <a:t>: Simplifies meal prep and macronutrient tracking for all skill levels.</a:t>
            </a:r>
          </a:p>
          <a:p>
            <a:pPr>
              <a:lnSpc>
                <a:spcPct val="150000"/>
              </a:lnSpc>
              <a:spcBef>
                <a:spcPts val="1001"/>
              </a:spcBef>
              <a:buFont typeface="Wingdings" pitchFamily="2" charset="2"/>
              <a:buChar char="Ø"/>
              <a:tabLst>
                <a:tab pos="0" algn="l"/>
              </a:tabLst>
            </a:pPr>
            <a:r>
              <a:rPr lang="en-US" sz="2400" b="1" dirty="0"/>
              <a:t>Diverse Options:</a:t>
            </a:r>
            <a:r>
              <a:rPr lang="en-US" sz="2400" dirty="0"/>
              <a:t> It offers recipes for various diets and health goals, thus encouraging healthier lifestyles. </a:t>
            </a:r>
            <a:endParaRPr lang="en-US" sz="24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indent="0" algn="just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rgbClr val="FF0000"/>
                </a:solidFill>
                <a:uFillTx/>
                <a:latin typeface="Times New Roman"/>
              </a:rPr>
              <a:t>Problem Statement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Challenges in Healthy Cooking</a:t>
            </a:r>
            <a:r>
              <a:rPr lang="en-US" sz="2400" dirty="0"/>
              <a:t>: Many people struggle with healthy meal prep due to time, nutrition knowledge, and misconceptions about taste.</a:t>
            </a:r>
          </a:p>
          <a:p>
            <a:pPr>
              <a:buFont typeface="Wingdings" pitchFamily="2" charset="2"/>
              <a:buChar char="Ø"/>
            </a:pP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Easy, Nutritional Solution</a:t>
            </a:r>
            <a:r>
              <a:rPr lang="en-US" sz="2400" dirty="0"/>
              <a:t>: Our platform simplifies finding and preparing healthy meals with personalized recipes and nutrition info.</a:t>
            </a:r>
          </a:p>
          <a:p>
            <a:pPr indent="0" algn="just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just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Objective of the Project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762000" y="1066800"/>
            <a:ext cx="1092924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Encourages Healthy Eating:</a:t>
            </a:r>
            <a:r>
              <a:rPr lang="en-US" sz="2400" dirty="0"/>
              <a:t> Provides balanced recipes with fresh ingredients and detailed macronutrient information for informed meal preparation.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Comprehensive Nutritional Data: </a:t>
            </a:r>
            <a:r>
              <a:rPr lang="en-US" sz="2400" dirty="0"/>
              <a:t>Provides macronutrient details for each recipe to help users align meals with their health goals.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Efficient Recipe Search: </a:t>
            </a:r>
            <a:r>
              <a:rPr lang="en-US" sz="2400" dirty="0"/>
              <a:t>Features a quick, intuitive search function to find recipes by name.</a:t>
            </a:r>
          </a:p>
          <a:p>
            <a:pPr marL="228600" indent="-2286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</a:pP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33400" y="2819400"/>
            <a:ext cx="10972440" cy="11448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Saves Time: </a:t>
            </a:r>
            <a:r>
              <a:rPr lang="en-US" sz="2400" dirty="0"/>
              <a:t>Optimizes ingredient quantities and cooking times to make meal preparation quicker and easier without compromising quality.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400" b="1" dirty="0"/>
              <a:t>Diverse Recipe Collection: </a:t>
            </a:r>
            <a:r>
              <a:rPr lang="en-US" sz="2400" dirty="0"/>
              <a:t>It provides a wide range of recipes to cater to different tastes, dietary needs, and cultural preferences.</a:t>
            </a:r>
            <a:endParaRPr lang="en-US" sz="2400" dirty="0">
              <a:solidFill>
                <a:schemeClr val="dk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2192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2. Literature Survey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F65157-8B38-7188-E397-E962D9A8D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306551"/>
              </p:ext>
            </p:extLst>
          </p:nvPr>
        </p:nvGraphicFramePr>
        <p:xfrm>
          <a:off x="838080" y="1143000"/>
          <a:ext cx="10972920" cy="476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120">
                  <a:extLst>
                    <a:ext uri="{9D8B030D-6E8A-4147-A177-3AD203B41FA5}">
                      <a16:colId xmlns:a16="http://schemas.microsoft.com/office/drawing/2014/main" val="2350380667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273639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13525311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7500106"/>
                    </a:ext>
                  </a:extLst>
                </a:gridCol>
              </a:tblGrid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S No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TITLE OF PROJECT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DISADVANTAGES 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ADVANTAGES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12211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CookBook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Paid subscription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friendly interface 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343590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MealBoard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Complex interface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13209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Tandoor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self-hosting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</a:t>
                      </a:r>
                      <a:r>
                        <a:rPr lang="en-GB" sz="2000" dirty="0"/>
                        <a:t>nique and various dishes 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11201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BigOven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Lot of </a:t>
                      </a:r>
                      <a:r>
                        <a:rPr lang="en-GB" sz="2000" dirty="0" err="1"/>
                        <a:t>ads,some</a:t>
                      </a:r>
                      <a:r>
                        <a:rPr lang="en-GB" sz="2000" dirty="0"/>
                        <a:t> features unlock at pro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 err="1"/>
                        <a:t>Creats</a:t>
                      </a:r>
                      <a:r>
                        <a:rPr lang="en-GB" sz="2000" dirty="0"/>
                        <a:t> user community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318260"/>
                  </a:ext>
                </a:extLst>
              </a:tr>
              <a:tr h="794456">
                <a:tc>
                  <a:txBody>
                    <a:bodyPr/>
                    <a:lstStyle/>
                    <a:p>
                      <a:r>
                        <a:rPr lang="en-GB" dirty="0"/>
                        <a:t>5.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ChefTap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Occasional syncing issues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Sync over multiple devices.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810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9BFAB9-43F2-B368-C803-C6170103CA3A}"/>
              </a:ext>
            </a:extLst>
          </p:cNvPr>
          <p:cNvSpPr txBox="1"/>
          <p:nvPr/>
        </p:nvSpPr>
        <p:spPr>
          <a:xfrm>
            <a:off x="8744243" y="2721114"/>
            <a:ext cx="30491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a typeface="Calibri" panose="020F0502020204030204" pitchFamily="34" charset="0"/>
              </a:rPr>
              <a:t>S</a:t>
            </a:r>
            <a:r>
              <a:rPr lang="en-US" sz="2000" dirty="0">
                <a:effectLst/>
                <a:ea typeface="Calibri" panose="020F0502020204030204" pitchFamily="34" charset="0"/>
              </a:rPr>
              <a:t>implifies meal planning, grocery shopping.</a:t>
            </a:r>
            <a:endParaRPr lang="en-US" sz="2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23256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3. Requirements Analysis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8080" y="885240"/>
            <a:ext cx="10929240" cy="560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20000"/>
          </a:bodyPr>
          <a:lstStyle/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Software Requirement Specifications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600" b="0" u="none" strike="noStrike" dirty="0">
                <a:solidFill>
                  <a:schemeClr val="dk1"/>
                </a:solidFill>
                <a:uFillTx/>
              </a:rPr>
              <a:t> </a:t>
            </a:r>
            <a:r>
              <a:rPr lang="en-US" sz="2600" b="1" dirty="0"/>
              <a:t>User Management:</a:t>
            </a:r>
            <a:endParaRPr lang="en-US" sz="2600" dirty="0"/>
          </a:p>
          <a:p>
            <a:r>
              <a:rPr lang="en-US" sz="2600" dirty="0"/>
              <a:t>  Two-Factor Authentication (2FA) for user registration and login using phone and         email verification.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/>
              <a:t>Recipe Management:</a:t>
            </a:r>
            <a:endParaRPr lang="en-US" sz="2600" dirty="0"/>
          </a:p>
          <a:p>
            <a:r>
              <a:rPr lang="en-US" sz="2600" dirty="0"/>
              <a:t> Add, edit, and delete recipes with prompts to guide users through required fields.</a:t>
            </a:r>
          </a:p>
          <a:p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/>
              <a:t>Search and Filter:</a:t>
            </a:r>
            <a:endParaRPr lang="en-US" sz="2600" dirty="0"/>
          </a:p>
          <a:p>
            <a:r>
              <a:rPr lang="en-US" sz="2600" dirty="0"/>
              <a:t> Keyword-based search with results filtering and no matches notification.</a:t>
            </a: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2800" b="1" u="none" strike="noStrike" dirty="0">
                <a:solidFill>
                  <a:srgbClr val="FF0000"/>
                </a:solidFill>
                <a:uFillTx/>
                <a:latin typeface="Times New Roman"/>
              </a:rPr>
              <a:t>Hardware Requirement Specifications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IN" sz="2800" b="0" u="none" strike="noStrike" dirty="0">
                <a:solidFill>
                  <a:schemeClr val="dk1"/>
                </a:solidFill>
                <a:uFillTx/>
                <a:latin typeface="Times New Roman"/>
              </a:rPr>
              <a:t> </a:t>
            </a:r>
            <a:endParaRPr lang="en-US" sz="2800" b="0" u="none" strike="noStrike" dirty="0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4FE916-B352-28F7-3FC6-23739A397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80" y="4423517"/>
            <a:ext cx="112776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Server-Side Hardware: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Multi-core processor (e.g., Intel Xeon or AMD EPYC) with at least 2.5 GHz processing speed, 8 GB RAM, 300 GB SSD.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Client-Side Hardware: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2 GHz dual-core processor, 4 GB RAM, 128 GB storage, stable internet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connectionwith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least 5 Mbps speed.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IN" sz="3200" b="1" u="none" strike="noStrike">
                <a:solidFill>
                  <a:srgbClr val="FF0000"/>
                </a:solidFill>
                <a:uFillTx/>
                <a:latin typeface="Times New Roman"/>
              </a:rPr>
              <a:t>4. Design</a:t>
            </a:r>
            <a:endParaRPr lang="en-US" sz="3200" b="0" u="none" strike="noStrike">
              <a:solidFill>
                <a:schemeClr val="dk1"/>
              </a:solidFill>
              <a:uFillTx/>
              <a:latin typeface="Apto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B35FC9-C252-02D2-28D5-E22B106F8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657672"/>
            <a:ext cx="3962520" cy="6162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A04E31-E4BA-8709-45DA-E182DF97D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268498"/>
            <a:ext cx="6248400" cy="52244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4" descr="Fountain Pen Thank Writing You Photos ..."/>
          <p:cNvPicPr/>
          <p:nvPr/>
        </p:nvPicPr>
        <p:blipFill>
          <a:blip r:embed="rId2"/>
          <a:srcRect b="13283"/>
          <a:stretch/>
        </p:blipFill>
        <p:spPr>
          <a:xfrm>
            <a:off x="2407680" y="1533960"/>
            <a:ext cx="7376400" cy="404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648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CG Omega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AGENDA</vt:lpstr>
      <vt:lpstr>ABSTARCT</vt:lpstr>
      <vt:lpstr>1. Introduction</vt:lpstr>
      <vt:lpstr>Motivation</vt:lpstr>
      <vt:lpstr>Objective of the Project</vt:lpstr>
      <vt:lpstr>PowerPoint Presentation</vt:lpstr>
      <vt:lpstr>2. Literature Survey</vt:lpstr>
      <vt:lpstr>3. Requirements Analysis</vt:lpstr>
      <vt:lpstr>4.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CVR COLLEGE OF ENGINEERING</dc:title>
  <dc:subject/>
  <dc:creator>ABHIRAM POSHAM</dc:creator>
  <dc:description/>
  <cp:lastModifiedBy>Dileep Krishna.M</cp:lastModifiedBy>
  <cp:revision>38</cp:revision>
  <dcterms:created xsi:type="dcterms:W3CDTF">2023-10-16T14:48:09Z</dcterms:created>
  <dcterms:modified xsi:type="dcterms:W3CDTF">2025-02-13T11:18:37Z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